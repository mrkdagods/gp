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109E8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AA-42DC-8F36-A97D9148DC43}"/>
              </c:ext>
            </c:extLst>
          </c:dPt>
          <c:dPt>
            <c:idx val="1"/>
            <c:invertIfNegative val="0"/>
            <c:bubble3D val="0"/>
            <c:spPr>
              <a:solidFill>
                <a:srgbClr val="445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AA-42DC-8F36-A97D9148DC43}"/>
              </c:ext>
            </c:extLst>
          </c:dPt>
          <c:dPt>
            <c:idx val="2"/>
            <c:invertIfNegative val="0"/>
            <c:bubble3D val="0"/>
            <c:spPr>
              <a:solidFill>
                <a:srgbClr val="445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AA-42DC-8F36-A97D9148DC4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AF0FB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ATHAR fusion</c:v>
                </c:pt>
                <c:pt idx="1">
                  <c:v>Prev. best published</c:v>
                </c:pt>
                <c:pt idx="2">
                  <c:v>Strongest pure ViT-B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93.3</c:v>
                </c:pt>
                <c:pt idx="1">
                  <c:v>92.9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AA-42DC-8F36-A97D9148D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DB0D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5"/>
        </c:scaling>
        <c:delete val="0"/>
        <c:axPos val="b"/>
        <c:majorGridlines>
          <c:spPr>
            <a:ln w="6350" cap="flat">
              <a:solidFill>
                <a:srgbClr val="2739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FA3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23D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Egypt CCTV market</c:v>
                </c:pt>
              </c:strCache>
            </c:strRef>
          </c:tx>
          <c:spPr>
            <a:solidFill>
              <a:srgbClr val="4453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00-400F-93C5-64AFF5B74AA8}"/>
              </c:ext>
            </c:extLst>
          </c:dPt>
          <c:dPt>
            <c:idx val="1"/>
            <c:invertIfNegative val="0"/>
            <c:bubble3D val="0"/>
            <c:spPr>
              <a:solidFill>
                <a:srgbClr val="10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00-400F-93C5-64AFF5B74AA8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AF0FB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00-400F-93C5-64AFF5B74A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D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4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109E8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1.46</c:v>
                </c:pt>
                <c:pt idx="1">
                  <c:v>2.2999999999999998</c:v>
                </c:pt>
                <c:pt idx="2">
                  <c:v>3.9</c:v>
                </c:pt>
                <c:pt idx="3">
                  <c:v>3.1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D-4610-A387-6D3734551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net cash</c:v>
                </c:pt>
              </c:strCache>
            </c:strRef>
          </c:tx>
          <c:spPr>
            <a:ln w="31750" cap="flat">
              <a:solidFill>
                <a:srgbClr val="AD6F0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D6F0A"/>
              </a:solidFill>
              <a:ln w="9525" cap="flat">
                <a:solidFill>
                  <a:srgbClr val="AD6F0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0.31</c:v>
                </c:pt>
                <c:pt idx="1">
                  <c:v>1.81</c:v>
                </c:pt>
                <c:pt idx="2">
                  <c:v>4.5199999999999996</c:v>
                </c:pt>
                <c:pt idx="3">
                  <c:v>6.34</c:v>
                </c:pt>
                <c:pt idx="4">
                  <c:v>7.72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ED-4610-A387-6D3734551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D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7395F"/>
              </a:solidFill>
              <a:prstDash val="solid"/>
              <a:round/>
            </a:ln>
          </c:spPr>
        </c:majorGridlines>
        <c:numFmt formatCode="\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FA3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DB0D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85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Hook before the slide content: 'A suspect crosses the city. Two hundred cameras saw him. And nobody can follow him.' Then: we are ATHAR, the Arabic word for trace. We turn a city's cameras into one continuous memory. Introduce team quickly; supervisor; Cairo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Make it human: one officer, one week, one suspect, and he is already gone. Key beats: 185 hours is a real documented case; identity dies at every camera boundary; Egypt is scaling cameras faster than anyone can watch them; imported tools are expensive, not Arabic, or not sovereign. Transition: 'What if the cameras could remember for us?'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2min. Walk the four steps as a story: this is the investigator's day, compressed. Right column: differentiation. Emphasize the human-in-the-loop verification (no competitor has it) and Arabic + sovereignty. Do NOT go technical yet; the next slide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2min. 'Everything on this slide is running today, offline, in Arabic.' Point at the timeline: identity spans across cameras. Point at the case workspace: the investigator confirming a 0.998 match. Then the engine column (six stages) and the custody chain: judges should hear 'court-ready', 'sovereign'. Tech chips at the bottom for the technical judges; expand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2min. The one-two punch: (1) we BEAT the previous best published result on VeRi-776, 93.3 vs 92.9 mAP: state of the art, (2) then we took it to a real 14-camera compound in El Shorouk and it worked on cameras it had never seen. Be precise if asked: CityFlow number is on the public validation split with offline post-processing; we say 'within the leaderboard range', never a rank. The +38/+10 gains: joint multi-domain retraining vs the single-domain baseline, evaluated deployment-mode.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1min. Big numbers fast, then the pivot line: 'every one of those cameras needs software, and today that software is imported.' If asked: TAM = everyone who could ever buy (all Egypt video-analytics software spend); SAM = the slice our product and channels can actually serve (government + smart-city cameras); SOM = the share we can realistically win in 5 years. Sources: Egypt CCTV market research 2024–2033, market study chapter of our published feasibility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Respect the competitors (BriefCam is excellent), then land the wedge: none were built for Egyptian operations. Three structural gaps nobody covers together: person-to-vehicle identity bridging, investigator verification, sovereign local AI. Fact base if challenged: pricing = published partner price lists and market estimates from our feasibility study; Gorilla and Intelion publish no pricing (quote-only, verified online). Intelion markets multi-camera tracking, so we grant 'partial'. Gorilla's re-ID is body (person) re-identification; no cross-entity person-to-vehicle. Rivals do offer on-prem installs; our sovereignty claim is about Egyptian IP, local support and air-gap BY DESIGN, not just an install option. Price row: we undercut Western tools 30-50% while beating Chinese stacks on sovereignty.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1min. One sentence per stream. The model matches how Egyptian government actually buys: perpetual license (CapEx) + maintenance. The recurring layer is the story for investors: every camera we license keeps paying. Private customers (compounds, malls, clubs, security firms) buy the same product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The route is honest and staged: (1) private sites now; the Shorouk compound deployment already exists, and malls, clubs, guarding companies are reachable without tenders. (2) Government through the companies that already hold MoI frameworks; we are the AI inside their bids. MoI is a bridge, not the destination. (3) The destination is smart-city revenue: the NAC, NUCA's 14+ cities, New Alamein, and private cognitive cities like TMG's The Spine ($27B, Madinaty, Egypt's first cognitive city, no tender needed). Each phase funds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1min. Frame honestly: 'this is what happens when a city turns this class of technology on': cited third-party deployments, not our claims. The ROI stat: Omdia (independent research firm) surveyed 140 end-user organizations for BriefCam; 85%+ reached full ROI within one year, 95% in banking. Close on sovereignty: crime down, cases faster, money saved, with Egyptian technology, on Egyptian servers, running on cameras Egypt already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1min. Point at two things only: break-even in the first year (the first governorate-scale deployment pays back the capital), and the cumulative curve: $7.7M net over five years on $650k in. Don't read every number; the assumptions line answers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 Team + roles in 15 seconds. Milestones: pilots, channel partners, first smart-city revenue. If asked about strategy: our goal is revenue, not government contracts for their own sake; MoI is a bridge that gets us integrated into smart cities like the NAC, NUCA cities, New Alamein, or The Spine. The ask: introductions (operators, malls, clubs, security firms, SIs serving MoI) + incubation/seed. End on the close line, pause, then: 'Thank you, we're ready for your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22960" y="685800"/>
            <a:ext cx="1554480" cy="365760"/>
          </a:xfrm>
          <a:prstGeom prst="line">
            <a:avLst/>
          </a:prstGeom>
          <a:noFill/>
          <a:ln w="12700">
            <a:solidFill>
              <a:srgbClr val="19C6B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2377440" y="685800"/>
            <a:ext cx="1828800" cy="548640"/>
          </a:xfrm>
          <a:prstGeom prst="line">
            <a:avLst/>
          </a:prstGeom>
          <a:noFill/>
          <a:ln w="12700">
            <a:solidFill>
              <a:srgbClr val="19C6B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flipV="1">
            <a:off x="4206240" y="777240"/>
            <a:ext cx="2286000" cy="457200"/>
          </a:xfrm>
          <a:prstGeom prst="line">
            <a:avLst/>
          </a:prstGeom>
          <a:noFill/>
          <a:ln w="12700">
            <a:solidFill>
              <a:srgbClr val="19C6B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92240" y="777240"/>
            <a:ext cx="2103120" cy="548640"/>
          </a:xfrm>
          <a:prstGeom prst="line">
            <a:avLst/>
          </a:prstGeom>
          <a:noFill/>
          <a:ln w="12700">
            <a:solidFill>
              <a:srgbClr val="19C6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8595360" y="868680"/>
            <a:ext cx="2286000" cy="457200"/>
          </a:xfrm>
          <a:prstGeom prst="line">
            <a:avLst/>
          </a:prstGeom>
          <a:noFill/>
          <a:ln w="12700">
            <a:solidFill>
              <a:srgbClr val="19C6B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8" name="Shape 6"/>
          <p:cNvSpPr/>
          <p:nvPr/>
        </p:nvSpPr>
        <p:spPr>
          <a:xfrm>
            <a:off x="2340864" y="64922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9" name="Shape 7"/>
          <p:cNvSpPr/>
          <p:nvPr/>
        </p:nvSpPr>
        <p:spPr>
          <a:xfrm>
            <a:off x="4169664" y="119786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10" name="Shape 8"/>
          <p:cNvSpPr/>
          <p:nvPr/>
        </p:nvSpPr>
        <p:spPr>
          <a:xfrm>
            <a:off x="6455664" y="74066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11" name="Shape 9"/>
          <p:cNvSpPr/>
          <p:nvPr/>
        </p:nvSpPr>
        <p:spPr>
          <a:xfrm>
            <a:off x="8558784" y="128930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31068" y="818388"/>
            <a:ext cx="100584" cy="100584"/>
          </a:xfrm>
          <a:prstGeom prst="ellipse">
            <a:avLst/>
          </a:prstGeom>
          <a:solidFill>
            <a:srgbClr val="D9A62E"/>
          </a:solidFill>
          <a:ln/>
        </p:spPr>
      </p:sp>
      <p:pic>
        <p:nvPicPr>
          <p:cNvPr id="13" name="Image 0" descr="C:\Users\mamar\AppData\Local\Temp\claude\E--dev-src-gp\ce36e9b4-80b2-491d-adec-70510274e60a\scratchpad\icons\camera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347472"/>
            <a:ext cx="274320" cy="274320"/>
          </a:xfrm>
          <a:prstGeom prst="rect">
            <a:avLst/>
          </a:prstGeom>
        </p:spPr>
      </p:pic>
      <p:pic>
        <p:nvPicPr>
          <p:cNvPr id="14" name="Image 1" descr="C:\Users\mamar\AppData\Local\Temp\claude\E--dev-src-gp\ce36e9b4-80b2-491d-adec-70510274e60a\scratchpad\icons\camera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438912"/>
            <a:ext cx="274320" cy="274320"/>
          </a:xfrm>
          <a:prstGeom prst="rect">
            <a:avLst/>
          </a:prstGeom>
        </p:spPr>
      </p:pic>
      <p:pic>
        <p:nvPicPr>
          <p:cNvPr id="15" name="Image 2" descr="C:\Users\mamar\AppData\Local\Temp\claude\E--dev-src-gp\ce36e9b4-80b2-491d-adec-70510274e60a\scratchpad\icons\camera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56" y="53035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18745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kern="0" spc="6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</a:t>
            </a:r>
            <a:r>
              <a:rPr lang="en-US" sz="60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أثر</a:t>
            </a:r>
            <a:endParaRPr lang="en-US" sz="7600" dirty="0"/>
          </a:p>
        </p:txBody>
      </p:sp>
      <p:sp>
        <p:nvSpPr>
          <p:cNvPr id="17" name="Text 12"/>
          <p:cNvSpPr/>
          <p:nvPr/>
        </p:nvSpPr>
        <p:spPr>
          <a:xfrm>
            <a:off x="1508760" y="3200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camera tells a fragment. ATHAR tells the story.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508760" y="3767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multi-camera tracking &amp; re-identification. Built in Egypt, for Egypt.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148840" y="4709160"/>
            <a:ext cx="7891272" cy="1170432"/>
          </a:xfrm>
          <a:prstGeom prst="roundRect">
            <a:avLst>
              <a:gd name="adj" fmla="val 5469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377440" y="4873752"/>
            <a:ext cx="7434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Abdelrahman Hamdi   ·   Ali Ashraf   ·   Mohamed Amar   ·   Seif Tamer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2377440" y="5248656"/>
            <a:ext cx="7434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Cairo University · Faculty of Engineering · Supervisor: Assoc. Prof. Ahmed Hamdi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50876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CS140 · IEEE Made in Egypt · 20th Edition Finals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one person in a city of cameras takes a week of human eyes.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475488" cy="475488"/>
          </a:xfrm>
          <a:prstGeom prst="ellipse">
            <a:avLst/>
          </a:prstGeom>
          <a:solidFill>
            <a:srgbClr val="1C2B4D"/>
          </a:solidFill>
          <a:ln w="9525">
            <a:solidFill>
              <a:srgbClr val="27395F"/>
            </a:solidFill>
            <a:prstDash val="solid"/>
          </a:ln>
        </p:spPr>
      </p:sp>
      <p:pic>
        <p:nvPicPr>
          <p:cNvPr id="5" name="Image 0" descr="C:\Users\mamar\AppData\Local\Temp\claude\E--dev-src-gp\ce36e9b4-80b2-491d-adec-70510274e60a\scratchpad\icons\clock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5681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scrubbing, camera by camera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210312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real serious-assault case burned 185 hours of officer time reviewing CCTV footage, for a single suspect.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962656"/>
            <a:ext cx="475488" cy="475488"/>
          </a:xfrm>
          <a:prstGeom prst="ellipse">
            <a:avLst/>
          </a:prstGeom>
          <a:solidFill>
            <a:srgbClr val="1C2B4D"/>
          </a:solidFill>
          <a:ln w="9525">
            <a:solidFill>
              <a:srgbClr val="27395F"/>
            </a:solidFill>
            <a:prstDash val="solid"/>
          </a:ln>
        </p:spPr>
      </p:sp>
      <p:pic>
        <p:nvPicPr>
          <p:cNvPr id="9" name="Image 1" descr="C:\Users\mamar\AppData\Local\Temp\claude\E--dev-src-gp\ce36e9b4-80b2-491d-adec-70510274e60a\scratchpad\icons\video-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0723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2608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Cameras don't share identity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321868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hand-off between cameras loses the target. Investigators get fragments, never the journey. Egypt's New Administrative Capital alone feeds 6,000+ cameras into one command centre.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" y="4078224"/>
            <a:ext cx="475488" cy="475488"/>
          </a:xfrm>
          <a:prstGeom prst="ellipse">
            <a:avLst/>
          </a:prstGeom>
          <a:solidFill>
            <a:srgbClr val="1C2B4D"/>
          </a:solidFill>
          <a:ln w="9525">
            <a:solidFill>
              <a:srgbClr val="27395F"/>
            </a:solidFill>
            <a:prstDash val="solid"/>
          </a:ln>
        </p:spPr>
      </p:sp>
      <p:pic>
        <p:nvPicPr>
          <p:cNvPr id="13" name="Image 2" descr="C:\Users\mamar\AppData\Local\Temp\claude\E--dev-src-gp\ce36e9b4-80b2-491d-adec-70510274e60a\scratchpad\icons\alert-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1879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4164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answers cost cases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433425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Kidnappings, thefts, hit-and-runs: the response window closes while footage is still being scrubbed.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5193792"/>
            <a:ext cx="475488" cy="475488"/>
          </a:xfrm>
          <a:prstGeom prst="ellipse">
            <a:avLst/>
          </a:prstGeom>
          <a:solidFill>
            <a:srgbClr val="1C2B4D"/>
          </a:solidFill>
          <a:ln w="9525">
            <a:solidFill>
              <a:srgbClr val="27395F"/>
            </a:solidFill>
            <a:prstDash val="solid"/>
          </a:ln>
        </p:spPr>
      </p:sp>
      <p:pic>
        <p:nvPicPr>
          <p:cNvPr id="17" name="Image 3" descr="C:\Users\mamar\AppData\Local\Temp\claude\E--dev-src-gp\ce36e9b4-80b2-491d-adec-70510274e60a\scratchpad\icons\dollar-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30352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15721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tools don't fit Egypt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544982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Western analytics run $600–1,200 per camera with no Arabic and no local support; Chinese stacks raise data-sovereignty concerns for government use.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818120" y="182880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982712" y="193852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hours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7982712" y="24871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case, one suspect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982712" y="277977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time on manual CCTV review in a documented assault investigation.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818120" y="3273552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982712" y="338328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6,000+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7982712" y="393192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Cameras in the NAC alone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982712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Egypt's flagship smart city with one integrated command &amp; control centre.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818120" y="4718304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982712" y="4828032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 B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7982712" y="53766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electronic-security market (2024)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982712" y="56692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 infrastructure spend, still reviewed by human eyes.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the footage. Ask for the person. Get the journey.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577840" cy="932688"/>
          </a:xfrm>
          <a:prstGeom prst="roundRect">
            <a:avLst>
              <a:gd name="adj" fmla="val 6863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475488" cy="475488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6" name="Image 0" descr="C:\Users\mamar\AppData\Local\Temp\claude\E--dev-src-gp\ce36e9b4-80b2-491d-adec-70510274e60a\scratchpad\icons\uploa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14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110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Ingest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72768" y="22128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of footage from any existing CCTV network, with zero new hardware.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862072"/>
            <a:ext cx="5577840" cy="932688"/>
          </a:xfrm>
          <a:prstGeom prst="roundRect">
            <a:avLst>
              <a:gd name="adj" fmla="val 6863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090672"/>
            <a:ext cx="475488" cy="475488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11" name="Image 1" descr="C:\Users\mamar\AppData\Local\Temp\claude\E--dev-src-gp\ce36e9b4-80b2-491d-adec-70510274e60a\scratchpad\icons\searc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004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9900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Search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72768" y="3291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photo or crop of a person or vehicle finds every appearance, on every camera.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" y="3941064"/>
            <a:ext cx="5577840" cy="932688"/>
          </a:xfrm>
          <a:prstGeom prst="roundRect">
            <a:avLst>
              <a:gd name="adj" fmla="val 6863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69664"/>
            <a:ext cx="475488" cy="475488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16" name="Image 2" descr="C:\Users\mamar\AppData\Local\Temp\claude\E--dev-src-gp\ce36e9b4-80b2-491d-adec-70510274e60a\scratchpad\icons\map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793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0690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Reconstruct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72768" y="43708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cross-camera journey assembled on a timeline and a map.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5020056"/>
            <a:ext cx="5577840" cy="932688"/>
          </a:xfrm>
          <a:prstGeom prst="roundRect">
            <a:avLst>
              <a:gd name="adj" fmla="val 6863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5248656"/>
            <a:ext cx="475488" cy="475488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21" name="Image 3" descr="C:\Users\mamar\AppData\Local\Temp\claude\E--dev-src-gp\ce36e9b4-80b2-491d-adec-70510274e60a\scratchpad\icons\fil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3583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51480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72768" y="54498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court-ready evidence report with a tamper-evident chain of custody.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720840" y="1783080"/>
            <a:ext cx="4773168" cy="4224528"/>
          </a:xfrm>
          <a:prstGeom prst="roundRect">
            <a:avLst>
              <a:gd name="adj" fmla="val 1515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967728" y="1975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nothing else does this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67728" y="2395728"/>
            <a:ext cx="431596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AND vehicles in one system; rivals track one or the other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Investigator confirms or rejects every match; only verified evidence enters the case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trail: every result traceable from video to model to report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Arabic-first interface, RTL from day one, built for Egyptian operations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 ready: zero cloud calls; data never leaves the premises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of scrubbing become minutes of search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product, not a paper pipeline.</a:t>
            </a:r>
            <a:endParaRPr lang="en-US" sz="2600" dirty="0"/>
          </a:p>
        </p:txBody>
      </p:sp>
      <p:pic>
        <p:nvPicPr>
          <p:cNvPr id="4" name="Image 0" descr="C:\Users\mamar\AppData\Local\Temp\claude\E--dev-src-gp\ce36e9b4-80b2-491d-adec-70510274e60a\scratchpad\shots\timeline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7040880" cy="160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91640"/>
            <a:ext cx="7040880" cy="1600200"/>
          </a:xfrm>
          <a:prstGeom prst="rect">
            <a:avLst/>
          </a:prstGeom>
          <a:ln w="12700">
            <a:solidFill>
              <a:srgbClr val="27395F"/>
            </a:solidFill>
            <a:prstDash val="solid"/>
          </a:ln>
        </p:spPr>
      </p:sp>
      <p:pic>
        <p:nvPicPr>
          <p:cNvPr id="6" name="Image 1" descr="C:\Users\mamar\AppData\Local\Temp\claude\E--dev-src-gp\ce36e9b4-80b2-491d-adec-70510274e60a\scratchpad\shots\case-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456432"/>
            <a:ext cx="6400800" cy="22677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25880" y="3456432"/>
            <a:ext cx="6400800" cy="2267712"/>
          </a:xfrm>
          <a:prstGeom prst="rect">
            <a:avLst/>
          </a:prstGeom>
          <a:ln w="12700">
            <a:solidFill>
              <a:srgbClr val="19C6B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833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app, Arabic RTL: cross-camera timeline (top) and the case workspace where an investigator confirms a match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01000" y="1645920"/>
            <a:ext cx="3502152" cy="2889504"/>
          </a:xfrm>
          <a:prstGeom prst="roundRect">
            <a:avLst>
              <a:gd name="adj" fmla="val 2215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0" y="1810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0" y="2176272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&amp; hash evidence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↓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+ track per camera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↓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Re-identify (AI ensemble)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↓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&amp; search (FAISS)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↓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Associate across cameras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↓"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report &amp; export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01000" y="4700016"/>
            <a:ext cx="3502152" cy="1399032"/>
          </a:xfrm>
          <a:prstGeom prst="roundRect">
            <a:avLst>
              <a:gd name="adj" fmla="val 4575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C:\Users\mamar\AppData\Local\Temp\claude\E--dev-src-gp\ce36e9b4-80b2-491d-adec-70510274e60a\scratchpad\icons\lock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8646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22208" y="482803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of custody: evidence hash → frozen config → model hash → result</a:t>
            </a:r>
            <a:endParaRPr lang="en-US" sz="1050" dirty="0"/>
          </a:p>
        </p:txBody>
      </p:sp>
      <p:pic>
        <p:nvPicPr>
          <p:cNvPr id="15" name="Image 3" descr="C:\Users\mamar\AppData\Local\Temp\claude\E--dev-src-gp\ce36e9b4-80b2-491d-adec-70510274e60a\scratchpad\icons\wifioff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555955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22208" y="5486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Air-gapped: runs fully offline on-premises; sovereign by design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YOLO26 · TransReID (ViT) + CLIP-SENet + DINOv2 ensemble · FAISS · FastAPI · Next.js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of the art on world benchmarks, proven on Egyptian streets.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937760" cy="3200400"/>
          </a:xfrm>
          <a:prstGeom prst="roundRect">
            <a:avLst>
              <a:gd name="adj" fmla="val 2000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re-identification · VeRi-776 (mAP %)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2212848"/>
          <a:ext cx="44805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691640"/>
            <a:ext cx="2743200" cy="1481328"/>
          </a:xfrm>
          <a:prstGeom prst="roundRect">
            <a:avLst>
              <a:gd name="adj" fmla="val 432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62472" y="180136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62472" y="23500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IDF1 · CityFlowV2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62472" y="26426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City-scale vehicle tracking: within the published AI City range (0.70–0.84), offline validation protocol.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778240" y="1691640"/>
            <a:ext cx="2743200" cy="1481328"/>
          </a:xfrm>
          <a:prstGeom prst="roundRect">
            <a:avLst>
              <a:gd name="adj" fmla="val 432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942832" y="180136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942832" y="23500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IDF1 · WILDTRACK people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42832" y="26426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Multi-camera person tracking, MODA 0.90, near-perfect identity continuity.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319272"/>
            <a:ext cx="5623560" cy="1572768"/>
          </a:xfrm>
          <a:prstGeom prst="roundRect">
            <a:avLst>
              <a:gd name="adj" fmla="val 4070"/>
            </a:avLst>
          </a:prstGeom>
          <a:solidFill>
            <a:srgbClr val="1C2B4D"/>
          </a:solidFill>
          <a:ln w="9525">
            <a:solidFill>
              <a:srgbClr val="19C6B4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0" descr="C:\Users\mamar\AppData\Local\Temp\claude\E--dev-src-gp\ce36e9b4-80b2-491d-adec-70510274e60a\scratchpad\icons\pin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2044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65392" y="3456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real Egyptian streets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65392" y="37673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14-camera live CCTV network in El Shorouk compound, Cairo. Ran on cameras it had never seen, with no retraining. Verified end-to-end on real footage.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85800" y="5074920"/>
            <a:ext cx="10835640" cy="1051560"/>
          </a:xfrm>
          <a:prstGeom prst="roundRect">
            <a:avLst>
              <a:gd name="adj" fmla="val 608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1" descr="C:\Users\mamar\AppData\Local\Temp\claude\E--dev-src-gp\ce36e9b4-80b2-491d-adec-70510274e60a\scratchpad\icons\trend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4924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52303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engine keeps improving:  </a:t>
            </a:r>
            <a:r>
              <a:rPr lang="en-US" sz="13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latest multi-domain model lifts accuracy by up to </a:t>
            </a:r>
            <a:r>
              <a:rPr lang="en-US" sz="13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+38 points</a:t>
            </a:r>
            <a:r>
              <a:rPr lang="en-US" sz="13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unseen vehicle domains (+10 on city traffic). One model, every deployment.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is building the cameras. Nobody Egyptian is building the brain.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4297680"/>
          </a:xfrm>
          <a:prstGeom prst="roundRect">
            <a:avLst>
              <a:gd name="adj" fmla="val 1489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video-analytics software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480560" cy="1078992"/>
          </a:xfrm>
          <a:prstGeom prst="roundRect">
            <a:avLst>
              <a:gd name="adj" fmla="val 5085"/>
            </a:avLst>
          </a:prstGeom>
          <a:solidFill>
            <a:srgbClr val="1C2B4D"/>
          </a:solidFill>
          <a:ln w="6350">
            <a:solidFill>
              <a:srgbClr val="2739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95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· Total addressable market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$30–50M / yr by 2027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to $115–175M by 2033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71600" y="3493008"/>
            <a:ext cx="3566160" cy="1078992"/>
          </a:xfrm>
          <a:prstGeom prst="roundRect">
            <a:avLst>
              <a:gd name="adj" fmla="val 5085"/>
            </a:avLst>
          </a:prstGeom>
          <a:solidFill>
            <a:srgbClr val="20345A"/>
          </a:solidFill>
          <a:ln w="6350">
            <a:solidFill>
              <a:srgbClr val="273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· Serviceable addressable market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$32–48M licenses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$6.4–9.6M/yr recurring · 80k gov &amp; smart-city cameras by 2027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0" y="4700016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27436E"/>
          </a:solidFill>
          <a:ln w="6350">
            <a:solidFill>
              <a:srgbClr val="2739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4809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· Serviceable obtainable market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5047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$12–25M over 5 years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5358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10–20% share via pilots → governorates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9019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 CCTV market (USD M)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400800" y="2240280"/>
          <a:ext cx="4892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400800" y="4069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14.3% CAGR. MEA is the fastest-growing surveillance region globally ($6.7B, 12.2% CAGR)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72200" y="4572000"/>
            <a:ext cx="1271016" cy="1463040"/>
          </a:xfrm>
          <a:prstGeom prst="roundRect">
            <a:avLst>
              <a:gd name="adj" fmla="val 5036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0" descr="C:\Users\mamar\AppData\Local\Temp\claude\E--dev-src-gp\ce36e9b4-80b2-491d-adec-70510274e60a\scratchpad\icons\hom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470001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4992624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60+ smart cities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63640" y="54406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under Egypt Vision 2030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7534656" y="4572000"/>
            <a:ext cx="1271016" cy="1463040"/>
          </a:xfrm>
          <a:prstGeom prst="roundRect">
            <a:avLst>
              <a:gd name="adj" fmla="val 5036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1" descr="C:\Users\mamar\AppData\Local\Temp\claude\E--dev-src-gp\ce36e9b4-80b2-491d-adec-70510274e60a\scratchpad\icons\video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470001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26096" y="4992624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6,000+ cameras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626096" y="54406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 phase 1, one command centre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8897112" y="4572000"/>
            <a:ext cx="1271016" cy="1463040"/>
          </a:xfrm>
          <a:prstGeom prst="roundRect">
            <a:avLst>
              <a:gd name="adj" fmla="val 5036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2" descr="C:\Users\mamar\AppData\Local\Temp\claude\E--dev-src-gp\ce36e9b4-80b2-491d-adec-70510274e60a\scratchpad\icons\shield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4700016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988552" y="4992624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50–100k MoI cameras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988552" y="54406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installed base by 2027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10259568" y="4572000"/>
            <a:ext cx="1271016" cy="1463040"/>
          </a:xfrm>
          <a:prstGeom prst="roundRect">
            <a:avLst>
              <a:gd name="adj" fmla="val 5036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5" name="Image 3" descr="C:\Users\mamar\AppData\Local\Temp\claude\E--dev-src-gp\ce36e9b4-80b2-491d-adec-70510274e60a\scratchpad\icons\users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296" y="470001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351008" y="4992624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Compounds &amp; malls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10351008" y="54406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security boom nationwide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tools weren't built for Egypt. ATHAR was.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35640" cy="91440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BriefCam / Milestone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Gorilla Tech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Intelion (ISID)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Hikvision / Dahua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9C6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ATHAR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Cross-camera Re-ID: people + vehicles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people (body re-ID)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F0F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both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Investigator verification workflow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F0F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unique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Chain of custody / audit trail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9C6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9C6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9C6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F0F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hash-chained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Arabic UI + local support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F0F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Egyptian IP · data sovereignty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vendor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vendor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vendor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6B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gov concerns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F0F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100% local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DB0D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 price / camera (year 1)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$600–1,200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quote-only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quote-only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E7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$400–700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A6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$400–500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5349240"/>
            <a:ext cx="3547872" cy="685800"/>
          </a:xfrm>
          <a:prstGeom prst="roundRect">
            <a:avLst>
              <a:gd name="adj" fmla="val 9333"/>
            </a:avLst>
          </a:prstGeom>
          <a:solidFill>
            <a:srgbClr val="1C2B4D"/>
          </a:solidFill>
          <a:ln w="9525">
            <a:solidFill>
              <a:srgbClr val="19C6B4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C:\Users\mamar\AppData\Local\Temp\claude\E--dev-src-gp\ce36e9b4-80b2-491d-adec-70510274e60a\scratchpad\icons\gitmerg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5504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6152" y="5349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 ↔ vehicle identity bridging</a:t>
            </a:r>
            <a:endParaRPr lang="en-US" sz="1150" dirty="0"/>
          </a:p>
        </p:txBody>
      </p:sp>
      <p:sp>
        <p:nvSpPr>
          <p:cNvPr id="4" name="Shape 4"/>
          <p:cNvSpPr/>
          <p:nvPr/>
        </p:nvSpPr>
        <p:spPr>
          <a:xfrm>
            <a:off x="4343400" y="5349240"/>
            <a:ext cx="3547872" cy="685800"/>
          </a:xfrm>
          <a:prstGeom prst="roundRect">
            <a:avLst>
              <a:gd name="adj" fmla="val 9333"/>
            </a:avLst>
          </a:prstGeom>
          <a:solidFill>
            <a:srgbClr val="1C2B4D"/>
          </a:solidFill>
          <a:ln w="9525">
            <a:solidFill>
              <a:srgbClr val="19C6B4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C:\Users\mamar\AppData\Local\Temp\claude\E--dev-src-gp\ce36e9b4-80b2-491d-adec-70510274e60a\scratchpad\icons\ey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555040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3752" y="5349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verified evidence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001000" y="5349240"/>
            <a:ext cx="3547872" cy="685800"/>
          </a:xfrm>
          <a:prstGeom prst="roundRect">
            <a:avLst>
              <a:gd name="adj" fmla="val 9333"/>
            </a:avLst>
          </a:prstGeom>
          <a:solidFill>
            <a:srgbClr val="1C2B4D"/>
          </a:solidFill>
          <a:ln w="9525">
            <a:solidFill>
              <a:srgbClr val="19C6B4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C:\Users\mamar\AppData\Local\Temp\claude\E--dev-src-gp\ce36e9b4-80b2-491d-adec-70510274e60a\scratchpad\icons\flag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555040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31352" y="5349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 on-prem AI, Egyptian IP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85800" y="619963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competitor combines all three, at 30–50% lower total cost of ownership.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the platform. Grow with every camera.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624328" cy="2377440"/>
          </a:xfrm>
          <a:prstGeom prst="roundRect">
            <a:avLst>
              <a:gd name="adj" fmla="val 2692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C:\Users\mamar\AppData\Local\Temp\claude\E--dev-src-gp\ce36e9b4-80b2-491d-adec-70510274e60a\scratchpad\icons\key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license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$400–500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0906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camera, perpetual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33649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Detection, tracking, cross-camera Re-ID, Arabic/English UI, evidence export.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624328" cy="2377440"/>
          </a:xfrm>
          <a:prstGeom prst="roundRect">
            <a:avLst>
              <a:gd name="adj" fmla="val 2692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C:\Users\mamar\AppData\Local\Temp\claude\E--dev-src-gp\ce36e9b4-80b2-491d-adec-70510274e60a\scratchpad\icons\refres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9659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3172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maintenance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5176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$60–100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611880" y="30906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camera / year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33649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Updates, support, model refreshes; 80% attach expected.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72200" y="1783080"/>
            <a:ext cx="2624328" cy="2377440"/>
          </a:xfrm>
          <a:prstGeom prst="roundRect">
            <a:avLst>
              <a:gd name="adj" fmla="val 2692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2" descr="C:\Users\mamar\AppData\Local\Temp\claude\E--dev-src-gp\ce36e9b4-80b2-491d-adec-70510274e60a\scratchpad\icons\chart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659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33172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55080" y="265176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$80–120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355080" y="30906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camera / year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55080" y="33649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synopsis, path analysis, behaviour insights; optional subscription.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15400" y="1783080"/>
            <a:ext cx="2624328" cy="2377440"/>
          </a:xfrm>
          <a:prstGeom prst="roundRect">
            <a:avLst>
              <a:gd name="adj" fmla="val 2692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3" descr="C:\Users\mamar\AppData\Local\Temp\claude\E--dev-src-gp\ce36e9b4-80b2-491d-adec-70510274e60a\scratchpad\icons\briefcas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9659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98280" y="233172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services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098280" y="265176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15–20%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9098280" y="30906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license revenue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098280" y="33649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Integration, training, custom workflow configuration.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85800" y="4434840"/>
            <a:ext cx="10835640" cy="1600200"/>
          </a:xfrm>
          <a:prstGeom prst="roundRect">
            <a:avLst>
              <a:gd name="adj" fmla="val 4000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1440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pays</a:t>
            </a:r>
            <a:endParaRPr lang="en-US" sz="1300" dirty="0"/>
          </a:p>
        </p:txBody>
      </p:sp>
      <p:pic>
        <p:nvPicPr>
          <p:cNvPr id="30" name="Image 4" descr="C:\Users\mamar\AppData\Local\Temp\claude\E--dev-src-gp\ce36e9b4-80b2-491d-adec-70510274e60a\scratchpad\icons\shield-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9834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919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&amp; MoI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298448" y="5193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licensed system-integrator partners; CapEx procurement they already prefer</a:t>
            </a:r>
            <a:endParaRPr lang="en-US" sz="950" dirty="0"/>
          </a:p>
        </p:txBody>
      </p:sp>
      <p:pic>
        <p:nvPicPr>
          <p:cNvPr id="33" name="Image 5" descr="C:\Users\mamar\AppData\Local\Temp\claude\E--dev-src-gp\ce36e9b4-80b2-491d-adec-70510274e60a\scratchpad\icons\home-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498348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18888" y="4919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Smart-city &amp; compound operators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818888" y="5193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NUCA cities, gated communities, malls, clubs</a:t>
            </a:r>
            <a:endParaRPr lang="en-US" sz="950" dirty="0"/>
          </a:p>
        </p:txBody>
      </p:sp>
      <p:pic>
        <p:nvPicPr>
          <p:cNvPr id="36" name="Image 6" descr="C:\Users\mamar\AppData\Local\Temp\claude\E--dev-src-gp\ce36e9b4-80b2-491d-adec-70510274e60a\scratchpad\icons\users-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49834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339328" y="4919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security firms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339328" y="5193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guarding companies operating hundreds of sites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685800" y="619963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gross margin 50–70% · recurring layer compounds on every installed camera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proves it. Partners scale it. Government buys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31720" y="2148840"/>
            <a:ext cx="3749040" cy="914"/>
          </a:xfrm>
          <a:prstGeom prst="line">
            <a:avLst/>
          </a:prstGeom>
          <a:noFill/>
          <a:ln w="19050">
            <a:solidFill>
              <a:srgbClr val="19C6B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080760" y="2148840"/>
            <a:ext cx="3749040" cy="914"/>
          </a:xfrm>
          <a:prstGeom prst="line">
            <a:avLst/>
          </a:prstGeom>
          <a:noFill/>
          <a:ln w="19050">
            <a:solidFill>
              <a:srgbClr val="19C6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95144" y="211226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7" name="Shape 5"/>
          <p:cNvSpPr/>
          <p:nvPr/>
        </p:nvSpPr>
        <p:spPr>
          <a:xfrm>
            <a:off x="6044184" y="2112264"/>
            <a:ext cx="73152" cy="73152"/>
          </a:xfrm>
          <a:prstGeom prst="ellipse">
            <a:avLst/>
          </a:prstGeom>
          <a:solidFill>
            <a:srgbClr val="19C6B4"/>
          </a:solidFill>
          <a:ln/>
        </p:spPr>
      </p:sp>
      <p:sp>
        <p:nvSpPr>
          <p:cNvPr id="8" name="Shape 6"/>
          <p:cNvSpPr/>
          <p:nvPr/>
        </p:nvSpPr>
        <p:spPr>
          <a:xfrm>
            <a:off x="9779508" y="2098548"/>
            <a:ext cx="100584" cy="100584"/>
          </a:xfrm>
          <a:prstGeom prst="ellipse">
            <a:avLst/>
          </a:prstGeom>
          <a:solidFill>
            <a:srgbClr val="D9A62E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1901952"/>
            <a:ext cx="493776" cy="493776"/>
          </a:xfrm>
          <a:prstGeom prst="ellipse">
            <a:avLst/>
          </a:prstGeom>
          <a:solidFill>
            <a:srgbClr val="1C2B4D"/>
          </a:solidFill>
          <a:ln w="15875">
            <a:solidFill>
              <a:srgbClr val="19C6B4"/>
            </a:solidFill>
            <a:prstDash val="solid"/>
          </a:ln>
        </p:spPr>
      </p:sp>
      <p:pic>
        <p:nvPicPr>
          <p:cNvPr id="10" name="Image 0" descr="C:\Users\mamar\AppData\Local\Temp\claude\E--dev-src-gp\ce36e9b4-80b2-491d-adec-70510274e60a\scratchpad\icons\hom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202082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6060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6968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→ 6 MONTHS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8696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Beachhead: private, direct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86968" y="3639312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compounds: El Shorouk deployment LIVE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Malls, sporting clubs, private-security firms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sales cycles → early revenue + references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1901952"/>
            <a:ext cx="493776" cy="493776"/>
          </a:xfrm>
          <a:prstGeom prst="ellipse">
            <a:avLst/>
          </a:prstGeom>
          <a:solidFill>
            <a:srgbClr val="1C2B4D"/>
          </a:solidFill>
          <a:ln w="15875">
            <a:solidFill>
              <a:srgbClr val="19C6B4"/>
            </a:solidFill>
            <a:prstDash val="solid"/>
          </a:ln>
        </p:spPr>
      </p:sp>
      <p:pic>
        <p:nvPicPr>
          <p:cNvPr id="16" name="Image 1" descr="C:\Users\mamar\AppData\Local\Temp\claude\E--dev-src-gp\ce36e9b4-80b2-491d-adec-70510274e60a\scratchpad\icons\user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02082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89120" y="26060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590288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→ 18 MONTHS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9028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Channel: government via integrators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0288" y="3639312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with licensed Egyptian SIs &amp; defense contractors holding MoI / NUCA frameworks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carry ATHAR into government tenders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ITIDA / TIEC programs de-risk certification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509760" y="1901952"/>
            <a:ext cx="493776" cy="493776"/>
          </a:xfrm>
          <a:prstGeom prst="ellipse">
            <a:avLst/>
          </a:prstGeom>
          <a:solidFill>
            <a:srgbClr val="1C2B4D"/>
          </a:solidFill>
          <a:ln w="15875">
            <a:solidFill>
              <a:srgbClr val="D9A62E"/>
            </a:solidFill>
            <a:prstDash val="solid"/>
          </a:ln>
        </p:spPr>
      </p:sp>
      <p:pic>
        <p:nvPicPr>
          <p:cNvPr id="22" name="Image 2" descr="C:\Users\mamar\AppData\Local\Temp\claude\E--dev-src-gp\ce36e9b4-80b2-491d-adec-70510274e60a\scratchpad\icons\globe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020824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92440" y="26060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293608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MONTHS +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29360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Scale: smart cities &amp; region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8293608" y="3639312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Smart-city integrations: New Administrative Capital, NUCA cities, New Alamein, The Spine (TMG's $27B cognitive city)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Governorate command centers via SI partners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 export: GCC smart-city programs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85800" y="594360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don't knock on the Ministry's door alone. Proven integrator channels carry us in, while private sites pay the bills and battle-test the product.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Safer streets, faster justice, sovereign technology.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C:\Users\mamar\AppData\Local\Temp\claude\E--dev-src-gp\ce36e9b4-80b2-491d-adec-70510274e60a\scratchpad\icons\shield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9019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83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Safer cities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−55%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68880" y="2313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homicides in West Palm Beach after city-wide video analytics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914400" y="27614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−93%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6888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cargo thefts in Tlaxcala, Mexico (multi-camera deployment)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914400" y="32369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30–40%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46888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crime-reduction potential (Deloitte smart-cities study)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6172200" y="17373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1" descr="C:\Users\mamar\AppData\Local\Temp\claude\E--dev-src-gp\ce36e9b4-80b2-491d-adec-70510274e60a\scratchpad\icons\zap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90195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1883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justice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0080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185h → 15h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955280" y="2313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time in a real assault case (Gorilla Tech)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6400800" y="27614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24h → 15 min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95528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key evidence, Green Bay PD (BriefCam)</a:t>
            </a:r>
            <a:endParaRPr lang="en-US" sz="980" dirty="0"/>
          </a:p>
        </p:txBody>
      </p:sp>
      <p:sp>
        <p:nvSpPr>
          <p:cNvPr id="20" name="Text 16"/>
          <p:cNvSpPr/>
          <p:nvPr/>
        </p:nvSpPr>
        <p:spPr>
          <a:xfrm>
            <a:off x="6400800" y="32369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10×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95528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investigations (industry benchmark)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85800" y="393192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2" descr="C:\Users\mamar\AppData\Local\Temp\claude\E--dev-src-gp\ce36e9b4-80b2-491d-adec-70510274e60a\scratchpad\icons\dollar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09651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4078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return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14400" y="4480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85%+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2468880" y="4507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video-analytics deployments reach full ROI within one year (Omdia survey, 140 organizations)</a:t>
            </a:r>
            <a:endParaRPr lang="en-US" sz="980" dirty="0"/>
          </a:p>
        </p:txBody>
      </p:sp>
      <p:sp>
        <p:nvSpPr>
          <p:cNvPr id="27" name="Text 22"/>
          <p:cNvSpPr/>
          <p:nvPr/>
        </p:nvSpPr>
        <p:spPr>
          <a:xfrm>
            <a:off x="914400" y="49560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$11M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246888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savings over 2 years in West Palm Beach</a:t>
            </a:r>
            <a:endParaRPr lang="en-US" sz="980" dirty="0"/>
          </a:p>
        </p:txBody>
      </p:sp>
      <p:sp>
        <p:nvSpPr>
          <p:cNvPr id="29" name="Text 24"/>
          <p:cNvSpPr/>
          <p:nvPr/>
        </p:nvSpPr>
        <p:spPr>
          <a:xfrm>
            <a:off x="914400" y="5431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30–50%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2468880" y="5458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monitoring staffing cost, 24/7 coverage kept</a:t>
            </a:r>
            <a:endParaRPr lang="en-US" sz="980" dirty="0"/>
          </a:p>
        </p:txBody>
      </p:sp>
      <p:sp>
        <p:nvSpPr>
          <p:cNvPr id="31" name="Shape 26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3" descr="C:\Users\mamar\AppData\Local\Temp\claude\E--dev-src-gp\ce36e9b4-80b2-491d-adec-70510274e60a\scratchpad\icons\flag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096512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66560" y="4078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 &amp; sustainable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6400800" y="4480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955280" y="4507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data: zero foreign dependency, Egyptian IP</a:t>
            </a:r>
            <a:endParaRPr lang="en-US" sz="980" dirty="0"/>
          </a:p>
        </p:txBody>
      </p:sp>
      <p:sp>
        <p:nvSpPr>
          <p:cNvPr id="36" name="Text 30"/>
          <p:cNvSpPr/>
          <p:nvPr/>
        </p:nvSpPr>
        <p:spPr>
          <a:xfrm>
            <a:off x="6400800" y="49560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95528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hardware; runs on the cameras Egypt already owns</a:t>
            </a:r>
            <a:endParaRPr lang="en-US" sz="980" dirty="0"/>
          </a:p>
        </p:txBody>
      </p:sp>
      <p:sp>
        <p:nvSpPr>
          <p:cNvPr id="38" name="Text 32"/>
          <p:cNvSpPr/>
          <p:nvPr/>
        </p:nvSpPr>
        <p:spPr>
          <a:xfrm>
            <a:off x="6400800" y="5431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2030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7955280" y="5458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aligned with Egypt Vision digital-transformation goals</a:t>
            </a:r>
            <a:endParaRPr lang="en-US" sz="980" dirty="0"/>
          </a:p>
        </p:txBody>
      </p:sp>
      <p:sp>
        <p:nvSpPr>
          <p:cNvPr id="40" name="Text 34"/>
          <p:cNvSpPr/>
          <p:nvPr/>
        </p:nvSpPr>
        <p:spPr>
          <a:xfrm>
            <a:off x="685800" y="61447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Case-study figures from documented deployments of this technology class (Omdia/BriefCam, Milestone, Gorilla, Deloitte, OJP); sources on file.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 inside year one. $13.6M cumulative revenue by year five.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03720" cy="4343400"/>
          </a:xfrm>
          <a:prstGeom prst="roundRect">
            <a:avLst>
              <a:gd name="adj" fmla="val 1474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Five-year projection (USD M)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2286000"/>
          <a:ext cx="6446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82712" y="1847088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$650k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82712" y="239572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capital required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18120" y="278892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82712" y="2898648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9–12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982712" y="344728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 point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18120" y="384048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82712" y="3950208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$7.7M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982712" y="449884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net profit (pre-tax)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18120" y="489204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82712" y="5001768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~12×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982712" y="555040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on initial capital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5800" y="623620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Assumptions: $500 avg license/camera · 2,000 → 15,000 cumulative cameras by Y5 · 80% maintenance attach · 30% analytics attach by Y3 · gross margin 50–70%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 that built it, and what happens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5648" y="1828800"/>
            <a:ext cx="493776" cy="493776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6" name="Image 0" descr="C:\Users\mamar\AppData\Local\Temp\claude\E--dev-src-gp\ce36e9b4-80b2-491d-adec-70510274e60a\scratchpad\icons\user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9476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Abdelrahman Hamdi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ingestion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828800"/>
            <a:ext cx="493776" cy="493776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11" name="Image 1" descr="C:\Users\mamar\AppData\Local\Temp\claude\E--dev-src-gp\ce36e9b4-80b2-491d-adec-70510274e60a\scratchpad\icons\user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476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 Ashraf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651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&amp; tracking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69164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2048" y="1828800"/>
            <a:ext cx="493776" cy="493776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16" name="Image 2" descr="C:\Users\mamar\AppData\Local\Temp\claude\E--dev-src-gp\ce36e9b4-80b2-491d-adec-70510274e60a\scratchpad\icons\user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476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Amar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2651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Re-ID, search &amp; indexing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5248" y="1828800"/>
            <a:ext cx="493776" cy="493776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pic>
        <p:nvPicPr>
          <p:cNvPr id="21" name="Image 3" descr="C:\Users\mamar\AppData\Local\Temp\claude\E--dev-src-gp\ce36e9b4-80b2-491d-adec-70510274e60a\scratchpad\icons\user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9476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Seif Tamer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06840" y="2651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Association &amp; platform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85800" y="315468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 by Assoc. Prof. Ahmed Hamdi · Cairo University, Faculty of Engineering · Team CS140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85800" y="3657600"/>
            <a:ext cx="6903720" cy="2377440"/>
          </a:xfrm>
          <a:prstGeom prst="roundRect">
            <a:avLst>
              <a:gd name="adj" fmla="val 2692"/>
            </a:avLst>
          </a:prstGeom>
          <a:solidFill>
            <a:srgbClr val="16223D"/>
          </a:solidFill>
          <a:ln w="9525">
            <a:solidFill>
              <a:srgbClr val="27395F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440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4400" y="421995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417320" y="4178808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paid private pilots: compound (live today), a mall, a club or security firm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14400" y="4773168"/>
            <a:ext cx="365760" cy="365760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4400" y="478688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417320" y="474573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1–2 system-integrator partnerships carrying ATHAR into government tenders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914400" y="5340096"/>
            <a:ext cx="365760" cy="365760"/>
          </a:xfrm>
          <a:prstGeom prst="ellipse">
            <a:avLst/>
          </a:prstGeom>
          <a:solidFill>
            <a:srgbClr val="1C2B4D"/>
          </a:solidFill>
          <a:ln w="12700">
            <a:solidFill>
              <a:srgbClr val="19C6B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14400" y="53538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417320" y="5312664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smart-city revenue: integrate with the New Administrative Capital, a NUCA city, or New Alamein, turning pilots into recurring per-camera income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818120" y="3657600"/>
            <a:ext cx="3703320" cy="2377440"/>
          </a:xfrm>
          <a:prstGeom prst="roundRect">
            <a:avLst>
              <a:gd name="adj" fmla="val 2692"/>
            </a:avLst>
          </a:prstGeom>
          <a:solidFill>
            <a:srgbClr val="2A2313"/>
          </a:solidFill>
          <a:ln w="9525">
            <a:solidFill>
              <a:srgbClr val="D9A62E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8046720" y="3822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8046720" y="418795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introductions: smart-city &amp; compound operators, malls, clubs, security firms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integrators serving MoI: we power your next bid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EA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Incubation &amp; seed backing (ITIDA · TIEC · accelerators) to certify, harden, deploy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85800" y="62636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9C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cameras are already watching. ATHAR makes them remember.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1168877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2286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ATHAR · CS140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2668</Words>
  <Application>Microsoft Office PowerPoint</Application>
  <PresentationFormat>Widescreen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Ammar</cp:lastModifiedBy>
  <cp:revision>2</cp:revision>
  <dcterms:created xsi:type="dcterms:W3CDTF">2026-07-30T10:58:50Z</dcterms:created>
  <dcterms:modified xsi:type="dcterms:W3CDTF">2026-07-30T11:01:20Z</dcterms:modified>
</cp:coreProperties>
</file>